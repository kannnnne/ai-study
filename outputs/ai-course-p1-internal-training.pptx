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1e20ee5e04c35" /><Relationship Type="http://schemas.openxmlformats.org/officeDocument/2006/relationships/extended-properties" Target="/docProps/app.xml" Id="Rdef2b8f690424584" /><Relationship Type="http://schemas.openxmlformats.org/officeDocument/2006/relationships/officeDocument" Target="/ppt/presentation.xml" Id="Rf7a3021209194d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ec95c6d8c4a7e"/>
  </p:sldMasterIdLst>
  <p:notesMasterIdLst>
    <p:notesMasterId xmlns:r="http://schemas.openxmlformats.org/officeDocument/2006/relationships" r:id="R250fd387fd62436d"/>
  </p:notesMasterIdLst>
  <p:sldIdLst>
    <p:sldId xmlns:r="http://schemas.openxmlformats.org/officeDocument/2006/relationships" id="256" r:id="Rc4b106cd4a114d45"/>
    <p:sldId xmlns:r="http://schemas.openxmlformats.org/officeDocument/2006/relationships" id="257" r:id="Rba094286052d4ddd"/>
    <p:sldId xmlns:r="http://schemas.openxmlformats.org/officeDocument/2006/relationships" id="258" r:id="Rc0ad1d8bfb224e89"/>
    <p:sldId xmlns:r="http://schemas.openxmlformats.org/officeDocument/2006/relationships" id="259" r:id="R9935648526784ab8"/>
    <p:sldId xmlns:r="http://schemas.openxmlformats.org/officeDocument/2006/relationships" id="260" r:id="R5dec6e5254744a63"/>
    <p:sldId xmlns:r="http://schemas.openxmlformats.org/officeDocument/2006/relationships" id="261" r:id="R9e6a3e0f075b47cf"/>
    <p:sldId xmlns:r="http://schemas.openxmlformats.org/officeDocument/2006/relationships" id="262" r:id="R7b7742d865cc45d1"/>
    <p:sldId xmlns:r="http://schemas.openxmlformats.org/officeDocument/2006/relationships" id="263" r:id="Rf3eed0a7c6c04cbe"/>
    <p:sldId xmlns:r="http://schemas.openxmlformats.org/officeDocument/2006/relationships" id="264" r:id="Ra9574b775ac0442d"/>
    <p:sldId xmlns:r="http://schemas.openxmlformats.org/officeDocument/2006/relationships" id="265" r:id="R974e1af5c6274a27"/>
    <p:sldId xmlns:r="http://schemas.openxmlformats.org/officeDocument/2006/relationships" id="266" r:id="R00c0d39139c5424f"/>
    <p:sldId xmlns:r="http://schemas.openxmlformats.org/officeDocument/2006/relationships" id="267" r:id="R42764cc9e8ff45f4"/>
    <p:sldId xmlns:r="http://schemas.openxmlformats.org/officeDocument/2006/relationships" id="268" r:id="R21122d90499c4ff1"/>
    <p:sldId xmlns:r="http://schemas.openxmlformats.org/officeDocument/2006/relationships" id="269" r:id="R4c811a0eeb4148e4"/>
    <p:sldId xmlns:r="http://schemas.openxmlformats.org/officeDocument/2006/relationships" id="270" r:id="R3dcaf2ce9d8a45df"/>
    <p:sldId xmlns:r="http://schemas.openxmlformats.org/officeDocument/2006/relationships" id="271" r:id="Ra6ecba2ea0fe494e"/>
    <p:sldId xmlns:r="http://schemas.openxmlformats.org/officeDocument/2006/relationships" id="272" r:id="Re3ea0dc4b27f4465"/>
    <p:sldId xmlns:r="http://schemas.openxmlformats.org/officeDocument/2006/relationships" id="273" r:id="R8f3b125a159b4c87"/>
    <p:sldId xmlns:r="http://schemas.openxmlformats.org/officeDocument/2006/relationships" id="274" r:id="Re248653c5a0f470a"/>
    <p:sldId xmlns:r="http://schemas.openxmlformats.org/officeDocument/2006/relationships" id="275" r:id="R5274357c7e0743f7"/>
    <p:sldId xmlns:r="http://schemas.openxmlformats.org/officeDocument/2006/relationships" id="276" r:id="R0528602b2ef141f8"/>
    <p:sldId xmlns:r="http://schemas.openxmlformats.org/officeDocument/2006/relationships" id="277" r:id="R50273ccdb2a14c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71ed4fb2b64ea5" /><Relationship Type="http://schemas.openxmlformats.org/officeDocument/2006/relationships/slideMaster" Target="/ppt/slideMasters/slideMaster1.xml" Id="R40dec95c6d8c4a7e" /><Relationship Type="http://schemas.openxmlformats.org/officeDocument/2006/relationships/notesMaster" Target="/ppt/notesMasters/notesMaster1.xml" Id="R250fd387fd62436d" /><Relationship Type="http://schemas.openxmlformats.org/officeDocument/2006/relationships/presProps" Target="/ppt/presProps.xml" Id="Re9305e420e7e4f35" /><Relationship Type="http://schemas.openxmlformats.org/officeDocument/2006/relationships/tableStyles" Target="/ppt/tableStyles.xml" Id="R4e5feb671efb464d" /><Relationship Type="http://schemas.openxmlformats.org/officeDocument/2006/relationships/slide" Target="/ppt/slides/slide1.xml" Id="Rc4b106cd4a114d45" /><Relationship Type="http://schemas.openxmlformats.org/officeDocument/2006/relationships/slide" Target="/ppt/slides/slide2.xml" Id="Rba094286052d4ddd" /><Relationship Type="http://schemas.openxmlformats.org/officeDocument/2006/relationships/slide" Target="/ppt/slides/slide3.xml" Id="Rc0ad1d8bfb224e89" /><Relationship Type="http://schemas.openxmlformats.org/officeDocument/2006/relationships/slide" Target="/ppt/slides/slide4.xml" Id="R9935648526784ab8" /><Relationship Type="http://schemas.openxmlformats.org/officeDocument/2006/relationships/slide" Target="/ppt/slides/slide5.xml" Id="R5dec6e5254744a63" /><Relationship Type="http://schemas.openxmlformats.org/officeDocument/2006/relationships/slide" Target="/ppt/slides/slide6.xml" Id="R9e6a3e0f075b47cf" /><Relationship Type="http://schemas.openxmlformats.org/officeDocument/2006/relationships/slide" Target="/ppt/slides/slide7.xml" Id="R7b7742d865cc45d1" /><Relationship Type="http://schemas.openxmlformats.org/officeDocument/2006/relationships/slide" Target="/ppt/slides/slide8.xml" Id="Rf3eed0a7c6c04cbe" /><Relationship Type="http://schemas.openxmlformats.org/officeDocument/2006/relationships/slide" Target="/ppt/slides/slide9.xml" Id="Ra9574b775ac0442d" /><Relationship Type="http://schemas.openxmlformats.org/officeDocument/2006/relationships/slide" Target="/ppt/slides/slide10.xml" Id="R974e1af5c6274a27" /><Relationship Type="http://schemas.openxmlformats.org/officeDocument/2006/relationships/slide" Target="/ppt/slides/slide11.xml" Id="R00c0d39139c5424f" /><Relationship Type="http://schemas.openxmlformats.org/officeDocument/2006/relationships/slide" Target="/ppt/slides/slide12.xml" Id="R42764cc9e8ff45f4" /><Relationship Type="http://schemas.openxmlformats.org/officeDocument/2006/relationships/slide" Target="/ppt/slides/slide13.xml" Id="R21122d90499c4ff1" /><Relationship Type="http://schemas.openxmlformats.org/officeDocument/2006/relationships/slide" Target="/ppt/slides/slide14.xml" Id="R4c811a0eeb4148e4" /><Relationship Type="http://schemas.openxmlformats.org/officeDocument/2006/relationships/slide" Target="/ppt/slides/slide15.xml" Id="R3dcaf2ce9d8a45df" /><Relationship Type="http://schemas.openxmlformats.org/officeDocument/2006/relationships/slide" Target="/ppt/slides/slide16.xml" Id="Ra6ecba2ea0fe494e" /><Relationship Type="http://schemas.openxmlformats.org/officeDocument/2006/relationships/slide" Target="/ppt/slides/slide17.xml" Id="Re3ea0dc4b27f4465" /><Relationship Type="http://schemas.openxmlformats.org/officeDocument/2006/relationships/slide" Target="/ppt/slides/slide18.xml" Id="R8f3b125a159b4c87" /><Relationship Type="http://schemas.openxmlformats.org/officeDocument/2006/relationships/slide" Target="/ppt/slides/slide19.xml" Id="Re248653c5a0f470a" /><Relationship Type="http://schemas.openxmlformats.org/officeDocument/2006/relationships/slide" Target="/ppt/slides/slide20.xml" Id="R5274357c7e0743f7" /><Relationship Type="http://schemas.openxmlformats.org/officeDocument/2006/relationships/slide" Target="/ppt/slides/slide21.xml" Id="R0528602b2ef141f8" /><Relationship Type="http://schemas.openxmlformats.org/officeDocument/2006/relationships/slide" Target="/ppt/slides/slide22.xml" Id="R50273ccdb2a1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c380eefae14a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7e85cc83a34b57" /><Relationship Type="http://schemas.openxmlformats.org/officeDocument/2006/relationships/notesMaster" Target="/ppt/notesMasters/notesMaster1.xml" Id="Rb8dbc9094ecc40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cdf2b6cc764701" /><Relationship Type="http://schemas.openxmlformats.org/officeDocument/2006/relationships/notesMaster" Target="/ppt/notesMasters/notesMaster1.xml" Id="R25b86afb8a6643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65507fd374dc0" /><Relationship Type="http://schemas.openxmlformats.org/officeDocument/2006/relationships/notesMaster" Target="/ppt/notesMasters/notesMaster1.xml" Id="Rb6858944a7f344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c0763bb3a34353" /><Relationship Type="http://schemas.openxmlformats.org/officeDocument/2006/relationships/notesMaster" Target="/ppt/notesMasters/notesMaster1.xml" Id="R88c129c86028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d4db1e21cc42aa" /><Relationship Type="http://schemas.openxmlformats.org/officeDocument/2006/relationships/notesMaster" Target="/ppt/notesMasters/notesMaster1.xml" Id="R4c1d8f63c3c7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2468b74210427f" /><Relationship Type="http://schemas.openxmlformats.org/officeDocument/2006/relationships/notesMaster" Target="/ppt/notesMasters/notesMaster1.xml" Id="R2d9435ac797748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2f839f918942b2" /><Relationship Type="http://schemas.openxmlformats.org/officeDocument/2006/relationships/notesMaster" Target="/ppt/notesMasters/notesMaster1.xml" Id="Rc3ab2801982c4f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80937a84ad4972" /><Relationship Type="http://schemas.openxmlformats.org/officeDocument/2006/relationships/notesMaster" Target="/ppt/notesMasters/notesMaster1.xml" Id="Re9f57528b3f645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23f1d505344b14" /><Relationship Type="http://schemas.openxmlformats.org/officeDocument/2006/relationships/notesMaster" Target="/ppt/notesMasters/notesMaster1.xml" Id="Rf4f5f6adcf754f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c787f3582145a7" /><Relationship Type="http://schemas.openxmlformats.org/officeDocument/2006/relationships/notesMaster" Target="/ppt/notesMasters/notesMaster1.xml" Id="R3a3e1b603c4443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16363156084afc" /><Relationship Type="http://schemas.openxmlformats.org/officeDocument/2006/relationships/notesMaster" Target="/ppt/notesMasters/notesMaster1.xml" Id="Rac3c28705fdc40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a11014d1524165" /><Relationship Type="http://schemas.openxmlformats.org/officeDocument/2006/relationships/notesMaster" Target="/ppt/notesMasters/notesMaster1.xml" Id="R84cd05c9023341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75b5d8a2a84349" /><Relationship Type="http://schemas.openxmlformats.org/officeDocument/2006/relationships/notesMaster" Target="/ppt/notesMasters/notesMaster1.xml" Id="Rbb2f87b24f4a45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023276961943ab" /><Relationship Type="http://schemas.openxmlformats.org/officeDocument/2006/relationships/notesMaster" Target="/ppt/notesMasters/notesMaster1.xml" Id="Rb2b524379b384e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3598edf3724a77" /><Relationship Type="http://schemas.openxmlformats.org/officeDocument/2006/relationships/notesMaster" Target="/ppt/notesMasters/notesMaster1.xml" Id="R9ace16d9be8346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54d5075c974c99" /><Relationship Type="http://schemas.openxmlformats.org/officeDocument/2006/relationships/notesMaster" Target="/ppt/notesMasters/notesMaster1.xml" Id="R60e93d7dbc8545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5adc2d92e948b1" /><Relationship Type="http://schemas.openxmlformats.org/officeDocument/2006/relationships/notesMaster" Target="/ppt/notesMasters/notesMaster1.xml" Id="R42efab3118fa42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56c337f976405f" /><Relationship Type="http://schemas.openxmlformats.org/officeDocument/2006/relationships/notesMaster" Target="/ppt/notesMasters/notesMaster1.xml" Id="R42c4b85de9304e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ae9369b26c4cfb" /><Relationship Type="http://schemas.openxmlformats.org/officeDocument/2006/relationships/notesMaster" Target="/ppt/notesMasters/notesMaster1.xml" Id="R4c6d9d90607c42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7059c5700e42f9" /><Relationship Type="http://schemas.openxmlformats.org/officeDocument/2006/relationships/notesMaster" Target="/ppt/notesMasters/notesMaster1.xml" Id="R948a04da530c4a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bbf2e6058c4274" /><Relationship Type="http://schemas.openxmlformats.org/officeDocument/2006/relationships/notesMaster" Target="/ppt/notesMasters/notesMaster1.xml" Id="R0c4534cbbf2942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d254561cbd4791" /><Relationship Type="http://schemas.openxmlformats.org/officeDocument/2006/relationships/notesMaster" Target="/ppt/notesMasters/notesMaster1.xml" Id="Raadcd9c3715e41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开场先说明这不是算法课，也不是工具炫技。</a:t>
            </a:r>
          </a:p>
          <a:p xmlns:a="http://schemas.openxmlformats.org/drawingml/2006/main">
            <a:r>
              <a:t>这份 PPT 用于内部试看、试讲启动和讲师统一口径。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把背景讲成团队问题，不讲成个人工具偏好。</a:t>
            </a:r>
          </a:p>
          <a:p xmlns:a="http://schemas.openxmlformats.org/drawingml/2006/main">
            <a:r>
              <a:t>强调先用小范围试讲验证价值、可复现性和安全边界。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这里可以对齐领导汇报口径：课程是效能实践沉淀。</a:t>
            </a:r>
          </a:p>
          <a:p xmlns:a="http://schemas.openxmlformats.org/drawingml/2006/main">
            <a:r>
              <a:t>对学员的语言要务实：先会用、会拆、会验。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这页要主动降低误解：不是培训大家把真实项目直接交给 AI。</a:t>
            </a:r>
          </a:p>
          <a:p xmlns:a="http://schemas.openxmlformats.org/drawingml/2006/main">
            <a:r>
              <a:t>可补一句：模型原理和复杂 Agent 放到后续进阶，不在 P1 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可以解释为什么 PPT 只是入口，真正支撑课程的是文档、代码和验收清单。</a:t>
            </a:r>
          </a:p>
          <a:p xmlns:a="http://schemas.openxmlformats.org/drawingml/2006/main">
            <a:r>
              <a:t>强调每节课都要留可复制产出。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 deck 的课程地图，后续每页都围绕这条路径展开。</a:t>
            </a:r>
          </a:p>
          <a:p xmlns:a="http://schemas.openxmlformats.org/drawingml/2006/main">
            <a:r>
              <a:t>第 7/8/10 课可作为 P2 扩展，不是当前 P1 试讲阻断项。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环境课要区分安装问题、网络问题、模型访问问题。</a:t>
            </a:r>
          </a:p>
          <a:p xmlns:a="http://schemas.openxmlformats.org/drawingml/2006/main">
            <a:r>
              <a:t>token 和 base URL 一律用占位符讲，不在屏幕共享中暴露。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这页可以反复引用：AI 写完不是完成，验收通过才是完成。</a:t>
            </a:r>
          </a:p>
          <a:p xmlns:a="http://schemas.openxmlformats.org/drawingml/2006/main">
            <a:r>
              <a:t>提醒学员：流程越清楚，AI 越不容易跑偏。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用本项目作为真实例子：课程材料、POC 设计、代码、验收都是这样推进的。</a:t>
            </a:r>
          </a:p>
          <a:p xmlns:a="http://schemas.openxmlformats.org/drawingml/2006/main">
            <a:r>
              <a:t>子会话不是越多越好，关键是单点清晰、可验收。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POC 时要避免把教学风险规则讲成真实业务规则。</a:t>
            </a:r>
          </a:p>
          <a:p xmlns:a="http://schemas.openxmlformats.org/drawingml/2006/main">
            <a:r>
              <a:t>这里可以展示最终页面截图或口述仪表盘、客户列表、详情、日志。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强调第一阶段单体不是落后，而是为了降低学习门槛。</a:t>
            </a:r>
          </a:p>
          <a:p xmlns:a="http://schemas.openxmlformats.org/drawingml/2006/main">
            <a:r>
              <a:t>第二阶段只拆 Gateway、customer-service、risk-service，避免入门课过重。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这页用于给技术骨干建立可信度：不是随便写页面，而是有数据和契约基线。</a:t>
            </a:r>
          </a:p>
          <a:p xmlns:a="http://schemas.openxmlformats.org/drawingml/2006/main">
            <a:r>
              <a:t>可补充：requestId 在响应体、响应头和 operation_log 中保持一致。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讲师可以现场展示三轮提示词：第一轮分析、第二轮收敛边界、第三轮验收标准。</a:t>
            </a:r>
          </a:p>
          <a:p xmlns:a="http://schemas.openxmlformats.org/drawingml/2006/main">
            <a:r>
              <a:t>需求分析课最重要的一句话：先定边界，再谈开发。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可提醒学员：设计不是越复杂越好，入门 POC 要先跑通。</a:t>
            </a:r>
          </a:p>
          <a:p xmlns:a="http://schemas.openxmlformats.org/drawingml/2006/main">
            <a:r>
              <a:t>银行场景尤其要看金额、状态、日志、敏感字段和错误处理。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后端课要让学员看到 AI 可以写代码，但人必须控制契约、事务和测试。</a:t>
            </a:r>
          </a:p>
          <a:p xmlns:a="http://schemas.openxmlformats.org/drawingml/2006/main">
            <a:r>
              <a:t>404、409、400 失败路径要和成功路径同等重要。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课是 P0 试看的关键样片之一。</a:t>
            </a:r>
          </a:p>
          <a:p xmlns:a="http://schemas.openxmlformats.org/drawingml/2006/main">
            <a:r>
              <a:t>现场失败时可使用 fullstack-integration-acceptance 的既有验收记录兜底。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这节课收束全课程质量观：AI 验收是辅助，最终责任在人。</a:t>
            </a:r>
          </a:p>
          <a:p xmlns:a="http://schemas.openxmlformats.org/drawingml/2006/main">
            <a:r>
              <a:t>失败路径不是补充项，而是验收的一等公民。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这页要讲得坚定但不吓人：边界清楚，团队才敢推广。</a:t>
            </a:r>
          </a:p>
          <a:p xmlns:a="http://schemas.openxmlformats.org/drawingml/2006/main">
            <a:r>
              <a:t>不要承诺工具天然安全，强调课程只用脱敏样例和本地 POC。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可以鼓励初学同学：不要求一次掌握全部开发，只要先学会正确流程。</a:t>
            </a:r>
          </a:p>
          <a:p xmlns:a="http://schemas.openxmlformats.org/drawingml/2006/main">
            <a:r>
              <a:t>对骨干同学：重点是能把方法迁移到自己的模块。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这里适合领导或负责人在试看时关注。</a:t>
            </a:r>
          </a:p>
          <a:p xmlns:a="http://schemas.openxmlformats.org/drawingml/2006/main">
            <a:r>
              <a:t>不要承诺效率翻倍，建议通过试点观察环境上手、文档质量、验收效率等指标。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建议第一轮不要超过 5 人，否则环境差异会影响收敛。</a:t>
            </a:r>
          </a:p>
          <a:p xmlns:a="http://schemas.openxmlformats.org/drawingml/2006/main">
            <a:r>
              <a:t>现场只处理共性环境问题，个别机器问题课后跟进。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结尾要把决策点讲清楚：先试讲，再决定 P2。</a:t>
            </a:r>
          </a:p>
          <a:p xmlns:a="http://schemas.openxmlformats.org/drawingml/2006/main">
            <a:r>
              <a:t>如果领导时间有限，建议先看第 0 课和第 6 课组合。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f0a6ae987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6b89b6bfd34f41" /><Relationship Type="http://schemas.openxmlformats.org/officeDocument/2006/relationships/slideLayout" Target="/ppt/slideLayouts/slideLayout1.xml" Id="R3dc80db14f9849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c80db14f9849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6dca3e5284a51" /><Relationship Type="http://schemas.openxmlformats.org/officeDocument/2006/relationships/notesSlide" Target="/ppt/notesSlides/notesSlide1.xml" Id="R80315b1608f44f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c61df13f34fa6" /><Relationship Type="http://schemas.openxmlformats.org/officeDocument/2006/relationships/notesSlide" Target="/ppt/notesSlides/notesSlide2.xml" Id="R7336554c1c1748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a5b129c14900" /><Relationship Type="http://schemas.openxmlformats.org/officeDocument/2006/relationships/notesSlide" Target="/ppt/notesSlides/notesSlide3.xml" Id="Rb49369612d63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1a7a10585450b" /><Relationship Type="http://schemas.openxmlformats.org/officeDocument/2006/relationships/notesSlide" Target="/ppt/notesSlides/notesSlide4.xml" Id="R20eaa2fd4f22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f041432dd4f0c" /><Relationship Type="http://schemas.openxmlformats.org/officeDocument/2006/relationships/notesSlide" Target="/ppt/notesSlides/notesSlide5.xml" Id="R8718bb93441f49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a6458850477a" /><Relationship Type="http://schemas.openxmlformats.org/officeDocument/2006/relationships/notesSlide" Target="/ppt/notesSlides/notesSlide6.xml" Id="R9eb34610034f48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68a5b63994a65" /><Relationship Type="http://schemas.openxmlformats.org/officeDocument/2006/relationships/notesSlide" Target="/ppt/notesSlides/notesSlide7.xml" Id="Rcd4c09a3ecf24f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96c5eba9e4d4b" /><Relationship Type="http://schemas.openxmlformats.org/officeDocument/2006/relationships/notesSlide" Target="/ppt/notesSlides/notesSlide8.xml" Id="Rf8b62c5b4491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c7d8060df4ca8" /><Relationship Type="http://schemas.openxmlformats.org/officeDocument/2006/relationships/notesSlide" Target="/ppt/notesSlides/notesSlide9.xml" Id="R1114895931e942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2ee2add6b40e8" /><Relationship Type="http://schemas.openxmlformats.org/officeDocument/2006/relationships/notesSlide" Target="/ppt/notesSlides/notesSlide10.xml" Id="R1bb1e596004343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c8d6d7ce74f37" /><Relationship Type="http://schemas.openxmlformats.org/officeDocument/2006/relationships/notesSlide" Target="/ppt/notesSlides/notesSlide11.xml" Id="Rcca66847d5a140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46c58e2874270" /><Relationship Type="http://schemas.openxmlformats.org/officeDocument/2006/relationships/notesSlide" Target="/ppt/notesSlides/notesSlide12.xml" Id="R7c8ef309335c4d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7d8ab8ecf4ddd" /><Relationship Type="http://schemas.openxmlformats.org/officeDocument/2006/relationships/notesSlide" Target="/ppt/notesSlides/notesSlide13.xml" Id="R9b9a6d1c471d4a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9b7447f664681" /><Relationship Type="http://schemas.openxmlformats.org/officeDocument/2006/relationships/notesSlide" Target="/ppt/notesSlides/notesSlide14.xml" Id="Rec243e1a438b47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777ca099d4246" /><Relationship Type="http://schemas.openxmlformats.org/officeDocument/2006/relationships/notesSlide" Target="/ppt/notesSlides/notesSlide15.xml" Id="R9c8f10da04c743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a3e3a222e49ca" /><Relationship Type="http://schemas.openxmlformats.org/officeDocument/2006/relationships/notesSlide" Target="/ppt/notesSlides/notesSlide16.xml" Id="Rd97a6ad168dc4c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660ca130744b7" /><Relationship Type="http://schemas.openxmlformats.org/officeDocument/2006/relationships/notesSlide" Target="/ppt/notesSlides/notesSlide17.xml" Id="Re3c12f50c62446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fe0afc25a4f45" /><Relationship Type="http://schemas.openxmlformats.org/officeDocument/2006/relationships/notesSlide" Target="/ppt/notesSlides/notesSlide18.xml" Id="Rbbafdb249e7042a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4cff32334139" /><Relationship Type="http://schemas.openxmlformats.org/officeDocument/2006/relationships/notesSlide" Target="/ppt/notesSlides/notesSlide19.xml" Id="Ra449a770de8f48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1264cee154196" /><Relationship Type="http://schemas.openxmlformats.org/officeDocument/2006/relationships/notesSlide" Target="/ppt/notesSlides/notesSlide20.xml" Id="R7901d3bdaab847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81eb5108f4d7f" /><Relationship Type="http://schemas.openxmlformats.org/officeDocument/2006/relationships/notesSlide" Target="/ppt/notesSlides/notesSlide21.xml" Id="Refc3ede37b4840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73654afbe4e0a" /><Relationship Type="http://schemas.openxmlformats.org/officeDocument/2006/relationships/notesSlide" Target="/ppt/notesSlides/notesSlide22.xml" Id="R2908480b765b45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28B70-9752-44F6-97E8-1129DA1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AFBD0-CF4D-402D-917E-6F8F2972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33"/>
                </a:solidFill>
              </a:defRPr>
            </a:pPr>
            <a:r>
              <a:rPr sz="4050" b="1">
                <a:solidFill>
                  <a:srgbClr val="102033"/>
                </a:solidFill>
              </a:rPr>
              <a:t>AI 辅助研发入门课程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6DA2F-BAE1-4970-A437-579DCC1C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P1 内部技术培训 / 试看与试讲启动版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7A62B-81A4-4758-B911-D425FE35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76"/>
                </a:solidFill>
              </a:defRPr>
            </a:pPr>
            <a:r>
              <a:rPr sz="1650" b="0">
                <a:solidFill>
                  <a:srgbClr val="506176"/>
                </a:solidFill>
              </a:rPr>
              <a:t>面向银行解决方案研发团队，用 Claude Code + DeepSeek 从 0 搭建最小可运行 Java POC，并沉淀可复制、可验收、可安全推广的 AI 辅助研发工作流。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E3E48-9107-4928-A419-D86DFDA4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ED3B7-A066-46D0-9E19-9BDE9D43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04950"/>
            <a:ext cx="161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需求</a:t>
            </a:r>
          </a:p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设计</a:t>
            </a:r>
          </a:p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开发</a:t>
            </a:r>
          </a:p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联调</a:t>
            </a:r>
          </a:p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F2BC9-7807-430D-9C53-4490B808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5B"/>
                </a:solidFill>
              </a:defRPr>
            </a:pPr>
            <a:r>
              <a:rPr sz="1500" b="1">
                <a:solidFill>
                  <a:srgbClr val="153A5B"/>
                </a:solidFill>
              </a:rPr>
              <a:t>AI 是工程搭档，最终责任仍在人和流程。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46B23-3BE1-4B91-B74C-5BAF84F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7E544-2797-40A3-B386-F78CBE78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AE834-CBE3-4EC6-9605-E76E70DD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8410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1DCF9F-C776-4E17-9BF5-A98744F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26491-1E69-46AD-BE32-3E08774E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9BDB0-91C2-470B-B082-562AEACB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为什么现在要做这门课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E5472-5A2E-4229-AFBB-8B3E3C2E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8C1CD-6BF0-407B-BBDA-B06F1CF1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802A2-1006-49C4-A038-AA6F70FA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A1BB8-8907-40D5-8DEB-ACE8B52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上手门槛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A19F4-1D88-4761-8080-A564F746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3ABFF-29EB-45AE-A1A5-08BE30F2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网络、安装包、模型访问各有差异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同学知道 AI 有用，但缺少稳定路径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工具配置失败会快速消耗热情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ADD6C-D3BD-43BE-9565-4829CF63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效率与质量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02777-9F56-477D-813F-6E3E955A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290E8-16E7-49D3-8C53-6B07B747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需求、设计、测试、文档仍有大量重复劳动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AI 可加速整理和生成，但必须被验收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统一方法比零散技巧更可推广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BF169-5570-4058-BF8A-B2B3FDFC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风险控制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66CC3-E8FA-42F2-B92E-878E45A3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77B2D-EB97-43D9-835E-7F8301C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银行项目对数据、日志、配置边界更敏感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真实客户数据、生产地址、密钥不能进入模型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先试点、再推广，降低组织风险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7D1B3-DCB7-491B-965F-4823A682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主线判断：P0 试看版和 P1 内部试讲版已具备，下一步应组织 3 到 5 人试讲，而不是继续堆材料。</a:t>
            </a:r>
          </a:p>
        </p:txBody>
      </p:sp>
    </p:spTree>
    <p:extLst>
      <p:ext uri="{BB962C8B-B14F-4D97-AF65-F5344CB8AC3E}">
        <p14:creationId xmlns:p14="http://schemas.microsoft.com/office/powerpoint/2010/main" val="794377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637C26-F50F-4411-BE76-98344384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D6A1-24C5-4240-A18E-A61129C4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目标与价值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C2BD9-C480-42ED-9AC3-EB064F55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课程目标：让 AI 进入可控研发流程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3A4B2-7E98-44E5-A182-529CE3EF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7BC4E-78DA-4E24-9FC0-531971F3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AA06D-5B4E-4F75-ABF2-8D91A25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B2FE4-7FAE-43BB-8652-C1E4288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85381-2D13-46C3-9E2A-DF982BE6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B9BF2-381C-4C50-964C-3AAF4B7D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6F84A-00F1-4F1B-A19C-79D51BFD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对学员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0C8FA-4887-49D3-9F39-3592059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476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会搭 Claude Code + DeepSeek 环境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会写任务、约束和验收标准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会拆分会话和检查 AI 产物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能完成小型研发闭环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84A6B-A9D1-42A1-997F-55FC66A4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57"/>
                </a:solidFill>
              </a:defRPr>
            </a:pPr>
            <a:r>
              <a:rPr sz="1950" b="1">
                <a:solidFill>
                  <a:srgbClr val="2E7D57"/>
                </a:solidFill>
              </a:rPr>
              <a:t>对团队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D4551-42AE-4372-9459-023E15BC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2476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降低重复摸索成本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统一需求、设计、开发、验收方法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沉淀提示词、FAQ 和案例库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支撑后续项目组推广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FC0E7-ECBB-4D63-B747-2BB80CFF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A5B"/>
                </a:solidFill>
              </a:defRPr>
            </a:pPr>
            <a:r>
              <a:rPr sz="1950" b="1">
                <a:solidFill>
                  <a:srgbClr val="153A5B"/>
                </a:solidFill>
              </a:rPr>
              <a:t>对管理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6DB56-9686-40A1-B664-026621F8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476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提高研发过程透明度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提升文档、测试和交接质量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从试点到推广更可控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风险边界可解释、可检查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B0756-353A-4C05-90A3-1BB58234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最低目标不是“自动完成项目”，而是让同学敢用、会用、知道怎么验。</a:t>
            </a:r>
          </a:p>
        </p:txBody>
      </p:sp>
    </p:spTree>
    <p:extLst>
      <p:ext uri="{BB962C8B-B14F-4D97-AF65-F5344CB8AC3E}">
        <p14:creationId xmlns:p14="http://schemas.microsoft.com/office/powerpoint/2010/main" val="886344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077E5-9D2F-404C-89BB-3722DA8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7B15C-620F-47EF-8742-89670846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范围边界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7A968-1FFC-4EAB-8E42-9736A79D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课程面向谁，以及不是什么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67422-8C58-4053-BF49-9AC2CDE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0F21B-8A00-4E77-A955-FAC881F8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A77F-05DC-4B60-912B-4CE6D4A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2A9EA-49DC-46A4-B1E3-4749F1D8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适合参与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6CED4-7589-4593-AF83-FBE918EB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Java 后端、前端、测试同学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技术骨干与项目交付同学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有开发经验但 AI 经验较少的同学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关注团队推广和风险控制的负责人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7FB57-6427-4DF9-B80E-3EC47EF9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791F"/>
                </a:solidFill>
              </a:defRPr>
            </a:pPr>
            <a:r>
              <a:rPr sz="1950" b="1">
                <a:solidFill>
                  <a:srgbClr val="B7791F"/>
                </a:solidFill>
              </a:rPr>
              <a:t>明确不是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286A2-57D1-4379-8B26-4ACF045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不是大模型底层算法课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不是 Agent 框架开发课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不是绕过安全、合规和评审流程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不是生产级银行系统建设方案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7E6AC-C18D-4331-B6F2-5107C0AE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214788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3F8AF-000F-4C67-B8F3-8C5D868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9675"/>
            <a:ext cx="19573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入门能用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CD55E-B902-46D2-9826-5139E944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513" y="5019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53AF6-1A5A-486B-937A-9D756B09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57750"/>
            <a:ext cx="214788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C3800-962A-4AC0-9438-F6171734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5019675"/>
            <a:ext cx="19573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小型闭环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20617-B32E-4813-BD98-2B30C202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19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F822E-58F8-4679-BDC2-E3A5F19C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57750"/>
            <a:ext cx="214788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27C76-20CD-4A82-9399-D4825684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9675"/>
            <a:ext cx="19573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可验收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AD287-63F7-4B89-9300-F78559F9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5019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BB5E9-FB70-455A-B41D-B23904D6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4857750"/>
            <a:ext cx="214788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E1F39-DE28-44CD-9E1F-9D022B7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63" y="5019675"/>
            <a:ext cx="195738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安全推广</a:t>
            </a:r>
          </a:p>
        </p:txBody>
      </p:sp>
    </p:spTree>
    <p:extLst>
      <p:ext uri="{BB962C8B-B14F-4D97-AF65-F5344CB8AC3E}">
        <p14:creationId xmlns:p14="http://schemas.microsoft.com/office/powerpoint/2010/main" val="1369299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CB94DD-4DF4-4880-B3CA-6694226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EB416-63D6-4454-AAAF-FCFE2974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输出资产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F493B-0D11-4AD0-B9F2-CC1EC4CC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课程交付物总览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A5D2C-D84D-4DCA-8286-2E4E4E5D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E58F0-4BA5-40B7-BA2F-01985DB6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93F5F-3AE4-4A37-B96C-5EE11CE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621DE-B1CB-467D-808E-72CCBBD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视频课程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58DB8-4418-4690-A45D-0FD013B4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6"/>
                </a:solidFill>
              </a:defRPr>
            </a:pPr>
            <a:r>
              <a:rPr sz="1350" b="0">
                <a:solidFill>
                  <a:srgbClr val="506176"/>
                </a:solidFill>
              </a:rPr>
              <a:t>第 0、1、2、3、4、5、6、9 课为 P1 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3E1AA-93A3-4F93-B45E-7B3E0168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7"/>
                </a:solidFill>
              </a:defRPr>
            </a:pPr>
            <a:r>
              <a:rPr sz="1800" b="1">
                <a:solidFill>
                  <a:srgbClr val="2E7D57"/>
                </a:solidFill>
              </a:rPr>
              <a:t>文字材料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76497-7899-422E-BBE9-36399325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6"/>
                </a:solidFill>
              </a:defRPr>
            </a:pPr>
            <a:r>
              <a:rPr sz="1350" b="0">
                <a:solidFill>
                  <a:srgbClr val="506176"/>
                </a:solidFill>
              </a:rPr>
              <a:t>录屏步骤、半口语稿、讲义、FAQ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4F57A-18A3-4E85-B2E4-005DA3E2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可运行 POC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5C9B4-6F54-4852-BACF-7CE1AE53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6"/>
                </a:solidFill>
              </a:defRPr>
            </a:pPr>
            <a:r>
              <a:rPr sz="1350" b="0">
                <a:solidFill>
                  <a:srgbClr val="506176"/>
                </a:solidFill>
              </a:rPr>
              <a:t>Vue 前端、Spring Boot 后端、H2/MySQL、Flyway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FCF8B-4F55-4FB4-AFC0-4FC72CF2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28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7"/>
                </a:solidFill>
              </a:defRPr>
            </a:pPr>
            <a:r>
              <a:rPr sz="1800" b="1">
                <a:solidFill>
                  <a:srgbClr val="2E7D57"/>
                </a:solidFill>
              </a:rPr>
              <a:t>提示词模板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403F7-76F7-4AC3-B910-24F66873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28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6"/>
                </a:solidFill>
              </a:defRPr>
            </a:pPr>
            <a:r>
              <a:rPr sz="1350" b="0">
                <a:solidFill>
                  <a:srgbClr val="506176"/>
                </a:solidFill>
              </a:rPr>
              <a:t>需求分析、设计评审、后端开发、AI 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0ECF3-A4C9-4B4A-81FA-74E38A0A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验收材料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9503D-3FBF-411C-9618-59474D3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6"/>
                </a:solidFill>
              </a:defRPr>
            </a:pPr>
            <a:r>
              <a:rPr sz="1350" b="0">
                <a:solidFill>
                  <a:srgbClr val="506176"/>
                </a:solidFill>
              </a:rPr>
              <a:t>HTTP 样例、测试矩阵、人工验收清单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21A49-7020-4AFA-8F30-38A7604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95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7"/>
                </a:solidFill>
              </a:defRPr>
            </a:pPr>
            <a:r>
              <a:rPr sz="1800" b="1">
                <a:solidFill>
                  <a:srgbClr val="2E7D57"/>
                </a:solidFill>
              </a:rPr>
              <a:t>试讲反馈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D0F06-6A51-43F3-8B80-8921553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176"/>
                </a:solidFill>
              </a:defRPr>
            </a:pPr>
            <a:r>
              <a:rPr sz="1350" b="0">
                <a:solidFill>
                  <a:srgbClr val="506176"/>
                </a:solidFill>
              </a:rPr>
              <a:t>试看说明、试讲计划、反馈表与复盘口径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68AD2-1EF0-45EE-BBD5-1A8AEFC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交付物的价值在于可录制、可复验、可复用，而不是只形成一次性讲稿。</a:t>
            </a:r>
          </a:p>
        </p:txBody>
      </p:sp>
    </p:spTree>
    <p:extLst>
      <p:ext uri="{BB962C8B-B14F-4D97-AF65-F5344CB8AC3E}">
        <p14:creationId xmlns:p14="http://schemas.microsoft.com/office/powerpoint/2010/main" val="1275189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057E0-F8B4-49F3-93F9-BF197C56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4CA29-53E6-4594-A698-2FA239ED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95698-2324-4223-B09D-7CD7CEA0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P1 学习路径：8 节课串成研发闭环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0467F-59EE-4020-B49F-7952AE50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9D87-5B71-42C5-86A8-E4C3064B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53117-01CF-45E3-8685-07C284FB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B5BE1-E795-42C6-BDEC-369DA9A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20B84-2BE9-48D3-A815-F8E64C7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 导入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FD639-A1B7-477D-BDB4-8892FCD8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669" y="1819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90243-53C3-43D1-BFA5-CD335367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EDE00-A0AF-4AF0-AE9C-1708B1C6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44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1 工作流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DF960-A069-4014-856C-F3F2EB7D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819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A7F56-CB01-4712-8E0B-F53CC37A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838FB-058E-471C-AF48-EB7E57B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2 环境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2DFC2-D789-44DB-A1F2-8E002B9F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56" y="1819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89C15-71F6-416D-A0EF-A45F856E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981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85581-DBC2-4D5F-B976-E5303AE5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231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3 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AA766-D8C2-4E25-85B0-787A0EFB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19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BAA78-1266-4BBE-94AA-8AEE7A70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4F98E-0E74-4860-8643-6C5CB852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4 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01B40-166B-4E3D-9936-AC599703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444" y="1819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9D558-7886-4925-BB6F-E292A828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369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01326-4A04-4A49-ABF2-0E282BAE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619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5 后端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BD23A-7675-4EA6-A5A7-6EC872A7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1819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5EDDF-AA04-4C42-841D-0680F40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6B0D99-61BF-4280-973C-504BDFAE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6 联调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497C1-4526-4A1F-842F-7DB13EEC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831" y="1819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47E9C-1860-416C-A21D-90623EB3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756" y="1657350"/>
            <a:ext cx="1226344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198BC-5A60-488B-9D7E-1F8C1CAF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006" y="1819275"/>
            <a:ext cx="103584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9 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D27CE-E58D-425F-8F2A-7F695757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9D551-7DE9-4A12-8D99-2F429ED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主题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756C0-E01A-4DC1-B4FF-E44E64B3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5752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讲清什么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2C098-7BE8-40D5-99F2-680860B4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440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验收口径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F3A4F3-33F3-4B23-9841-33AE374B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42546C-C244-4686-949A-E79218B3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认知与环境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D9EC90-EA56-49FC-A70A-9ACABC34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7187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讲清 AI、提示词、上下文、Agent、工具访问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4F2D53-F221-4E54-A10E-834751C5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7187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能说清边界，能完成基础环境检查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8A7AA6-BA79-47D7-917D-7CC194CA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9BE9E-4129-4CF5-96FE-E95327D3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需求与设计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142E03-3B27-4860-9445-F066ACCA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2432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从粗需求收敛角色、流程、边界、API、数据模型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73B3D2-9F9B-426C-A0A6-BB6C220B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243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先分析、再设计、再设验收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B29659-59A4-4538-A3E2-89DE534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59854C-0A50-4F42-9B61-D39D3FDD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开发与联调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8CA8F3-6F7D-49FB-91AA-2A31A2A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7677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后端统一响应、风险重算事务，前端主流程联调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E44EDF-3B87-4616-9C72-2AF78C59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7677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主流程、错误路径、日志链路可演示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2663FE-9DBF-4E8C-89B8-23BFBC56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F2B510-6C52-41BA-AB4F-EE948AC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292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验收与复盘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26B138-5735-4E91-BA02-6C465D15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29225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AI 审查、自动化测试、HTTP 复验、人工验收、安全检查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D13572-1228-491B-A065-E4AF6F68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292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证据链完整，问题按 P0/P1/P2 分级</a:t>
            </a:r>
          </a:p>
        </p:txBody>
      </p:sp>
    </p:spTree>
    <p:extLst>
      <p:ext uri="{BB962C8B-B14F-4D97-AF65-F5344CB8AC3E}">
        <p14:creationId xmlns:p14="http://schemas.microsoft.com/office/powerpoint/2010/main" val="80267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878E6-87D8-42B9-83F6-EBDBBE6E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5105-F7A2-4783-9837-9BBBC668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工具与边界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31CFC-D0CD-4555-B1BE-750E11F0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工具体系：Claude Code + DeepSeek 的定位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59C0A-6E50-4F32-B6E2-B29E4BF7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285F4-8F5C-4B8E-8A0F-C81E8DAC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C530E-4BBF-4FE9-84B2-59151533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50D19-11D9-4626-ABA2-4ADA81A1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Claude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4D547-3365-4511-9C90-3CA5C614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9A2F7-FDA4-44E6-805D-4AF68E1D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贴近真实工程目录和命令行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适合读文件、改代码、跑测试、拆子任务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重点是工程上下文和执行闭环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2F15-10E4-4775-A1BE-C49042A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67640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DeepSeek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38A2D-9CD9-4109-95A5-27284183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95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60C75-167C-432C-A38A-DD27DF89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2410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提供模型访问能力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用于解释、生成、审查和总结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关键是 API 配置、可用性和成本边界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52925-4077-492B-9A40-E0B084E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7640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讲师约束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43250-0CFA-4AB0-B808-4A0264E2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955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BB5B6-451E-4015-B9E8-57BA7160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32410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不展示真实 token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不连接生产环境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不把内网地址写入课程材料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失败时用 FAQ 和既有验收记录兜底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E7B16-F46C-42C5-BDC6-8151523A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工具不是课程目的。课程真正要教的是：怎么给 AI 任务、怎么控制上下文、怎么验收结果。</a:t>
            </a:r>
          </a:p>
        </p:txBody>
      </p:sp>
    </p:spTree>
    <p:extLst>
      <p:ext uri="{BB962C8B-B14F-4D97-AF65-F5344CB8AC3E}">
        <p14:creationId xmlns:p14="http://schemas.microsoft.com/office/powerpoint/2010/main" val="2026116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7B850-CDA0-4477-B17B-39EE7155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22100-124F-48F2-BB4A-783EBBD2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方法论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0B49E-87C8-4416-986C-80F7AD3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AI 辅助研发工作流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0FAF8-DF2D-4E3B-9AB7-0C5387E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41D00-0531-4E22-BC5A-F50676AA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71568-158C-4EBF-B45E-9786E73F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D4DBA-AAB6-48F6-B305-983138FF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5FB80-96DF-4753-B228-086C5A16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需求分析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D0ABB-5041-4B40-AF56-AFC9C452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44" y="183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223D9-1C64-45C5-9B31-F1F6E7D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869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1C5C2-F166-48E1-AE27-C5E0C04C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119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设计评审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123D0-BE0D-42F2-BFA9-472A778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83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D456D-8AF3-4C65-9115-9E9160F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5C161-18C8-468C-9AAC-19C510F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计划拆分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7F5CD-F2EE-402D-B5D6-0F899A3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481" y="183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22F67-4B95-4BC0-838E-F0BCE8FA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406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3FF6A-0421-493F-9EDC-51AA473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656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设验收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BC81B-A241-46DD-A62F-030B330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3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E5811-7B40-4526-A30D-A8E5CD9B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39953-4FA6-4D52-B85F-837BAEC9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开发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50198-5730-4B64-97D2-2B936599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019" y="183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C0BFC-30C5-4422-B73F-7E71DDE0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944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C7C24-553C-4D02-82FB-6FACE64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194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AI 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23CCF-FF70-4EF3-A181-11D12F8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183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1ADCD-5D32-4A8B-86CB-1C0D439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4B14D8-8B6F-462D-AD18-758FA3A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人工验收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48147-27CB-4DB1-BF29-19B27B2D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556" y="183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8CB52F-147C-4F4E-994B-82E6931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481" y="1676400"/>
            <a:ext cx="1254919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9C89CC-1A72-4A71-AEBA-BA68F631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731" y="1838325"/>
            <a:ext cx="106441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安全验收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F0E8A-758F-41A7-973A-844DEB95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每一步的产出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FCCC5D-1BE2-42C3-A964-624D018B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需求摘要、用户角色、功能边界和不做什么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架构、数据库、API、错误码、日志和测试策略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小步任务、输入输出、独立验证命令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按 P0/P1/P2 输出问题和修复建议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38E64-2A6D-4144-92E8-97D33AA7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</a:defRPr>
            </a:pPr>
            <a:r>
              <a:rPr sz="1800" b="1">
                <a:solidFill>
                  <a:srgbClr val="B7791F"/>
                </a:solidFill>
              </a:rPr>
              <a:t>底线原则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FB67E0-9C61-4DDD-9F97-FBCE3304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不能让 AI 粗需求后直接写完整系统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不能不看 diff、不跑测试就相信输出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不能把 AI 自评当成最终验收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不能上传真实数据、密钥和生产配置</a:t>
            </a:r>
          </a:p>
        </p:txBody>
      </p:sp>
    </p:spTree>
    <p:extLst>
      <p:ext uri="{BB962C8B-B14F-4D97-AF65-F5344CB8AC3E}">
        <p14:creationId xmlns:p14="http://schemas.microsoft.com/office/powerpoint/2010/main" val="17335475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7EF01-DF68-4D11-A0B8-3FB74601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1D648-C44A-4912-853B-6880DEEC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协作模型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4C779-1DD9-4879-90F1-848E4958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主控会话与子会话协作方式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1DF70-44D5-491D-80D3-A9D8DA03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09FAB-9358-4CD1-926B-337188D8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4C339-4315-47CA-BA6F-D049CDD2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02AED-A8CF-44D1-AA26-C500390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000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ADAA0-7AF7-4452-8EB7-D31A41C4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192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669DC-9798-4BE9-8C5F-EC5C1972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6E18A-422F-4AEB-A4AD-48629EBE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8188E-2539-4178-B486-D33D052E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主控会话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9DD1E-CB80-4FC5-9BFE-15FAD438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维护目标和边界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拆分子任务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验收产出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决定下一轮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79F40-D10A-40CD-9AC0-95897C9E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5B"/>
                </a:solidFill>
              </a:defRPr>
            </a:pPr>
            <a:r>
              <a:rPr sz="1500" b="1">
                <a:solidFill>
                  <a:srgbClr val="153A5B"/>
                </a:solidFill>
              </a:rPr>
              <a:t>需求 / 设计子会话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4A409-A0EA-498E-9DAB-5A55868D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5B"/>
                </a:solidFill>
              </a:defRPr>
            </a:pPr>
            <a:r>
              <a:rPr sz="1500" b="1">
                <a:solidFill>
                  <a:srgbClr val="153A5B"/>
                </a:solidFill>
              </a:rPr>
              <a:t>后端 / 前端子会话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3ED79-0975-47CF-A5FD-1AB83200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A5B"/>
                </a:solidFill>
              </a:defRPr>
            </a:pPr>
            <a:r>
              <a:rPr sz="1500" b="1">
                <a:solidFill>
                  <a:srgbClr val="153A5B"/>
                </a:solidFill>
              </a:rPr>
              <a:t>联调 / 验收 / 讲稿子会话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BE2D7-092C-48A9-8BCE-E7138A68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527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506176"/>
                </a:solidFill>
              </a:defRPr>
            </a:pPr>
            <a:r>
              <a:rPr sz="31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A7DE6-7377-40BC-965C-F62853B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结束条件：指定文件生成、覆盖范围说明、验证结果、风险和待确认问题回传。</a:t>
            </a:r>
          </a:p>
        </p:txBody>
      </p:sp>
    </p:spTree>
    <p:extLst>
      <p:ext uri="{BB962C8B-B14F-4D97-AF65-F5344CB8AC3E}">
        <p14:creationId xmlns:p14="http://schemas.microsoft.com/office/powerpoint/2010/main" val="546783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FBFDE-A985-4DA2-A30D-A7B225C0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E5D4A-C691-4792-BD05-6F150467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教学案例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09BAA-BDEA-402D-BAC5-89AC3E71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POC 场景：客户风险评级与账户查询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106C5-A1FF-425A-82B2-9622A318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B020F-2EDE-4890-BE2D-5C3B17D8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08BD7-C280-4C11-8EC1-987FC67E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C4A7D-9B4B-453A-9BC2-7178F895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业务语境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4D791-20FD-4A74-9C1E-3D0E4A64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FAC40-C1F5-4843-910F-4F6F7FF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柜面、运营或风控辅助人员查询客户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查看账户余额概览和当前风险等级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支持轻量的风险重算与操作日志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44BA8-5B46-43FB-990F-CCE32922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教学价值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16DB2-F07A-4F99-A817-881F617B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585D7-4057-4703-837A-416A5A1C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能覆盖需求、数据、API、前后端、测试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场景贴近银行研发，但保持最小可运行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每个能力都能拆成 AI 可执行任务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0879F-8940-457E-BF3E-C8BA6C8E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不做内容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DBFBE-4964-4CCD-B2E1-D0033FC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3FDBC-009F-49F9-BBC7-BD82341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不接入真实征信、反洗钱或核心账务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风险规则只作教学样例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不做真实登录、权限、生产风控模型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1A25B-3ADE-409C-8089-74CAC59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POC 不是生产系统，而是用来演示完整研发链路的教学样板。</a:t>
            </a:r>
          </a:p>
        </p:txBody>
      </p:sp>
    </p:spTree>
    <p:extLst>
      <p:ext uri="{BB962C8B-B14F-4D97-AF65-F5344CB8AC3E}">
        <p14:creationId xmlns:p14="http://schemas.microsoft.com/office/powerpoint/2010/main" val="705138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36437-DCBF-4FAF-B532-366F8797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C12B2-6864-49CE-A28B-7BDF4629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39FAC-9289-49F5-A0F4-2E966F13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POC 架构：单体优先，微服务后置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22E8C-630A-440C-B050-EC8E1FA5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50AE4-8201-4DED-B227-7C43382E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980C3-178D-46E7-8A26-CE69985E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1A405-119E-4F40-BF78-03DAB4E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第一阶段：最小可运行闭环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D23C6-DBF0-4185-9CFC-4905189B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90023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D22F6-543A-4281-AB29-F2EB033B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17097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Vue 3 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A6BBC-C29B-4F2F-9CDD-3ECD6C1F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2200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EFBD7-C616-447E-92DD-DACB440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2038350"/>
            <a:ext cx="190023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D83C3-CE90-4E21-9AEB-EA73651F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2200275"/>
            <a:ext cx="17097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Spring Boot 3.x 单体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47495-FC6F-4889-AE65-3A3809B7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00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36F9D-C307-4A28-9A09-0A60CC80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38350"/>
            <a:ext cx="190023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A56D7-B1B9-412C-86C7-88CF24C0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00275"/>
            <a:ext cx="17097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MySQL/H2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F2288-DE68-4A64-8B7F-9EF0A1BB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38" y="2200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08D3A-4023-44CB-BE69-15EDFE8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563" y="2038350"/>
            <a:ext cx="1900238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CA4C1-958C-4C05-BF6E-C31D3B4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2200275"/>
            <a:ext cx="170973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Flyway 样例数据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89C63-FD63-4FA6-8B28-77D17A5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common、customer、account、risk、operation-log 模块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统一响应、错误码、requestId、OpenAPI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后端测试 + 前端构建 + 浏览器人工验收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D1ACD-CEA4-45E3-A000-172EE168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7"/>
                </a:solidFill>
              </a:defRPr>
            </a:pPr>
            <a:r>
              <a:rPr sz="1800" b="1">
                <a:solidFill>
                  <a:srgbClr val="2E7D57"/>
                </a:solidFill>
              </a:rPr>
              <a:t>第二阶段：教学演进方向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A12BF-A720-464A-B469-5B82BDC3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10191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B5ED6-8DF0-413C-AEBF-3573498A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558E7-267B-467C-82A9-2E116DC7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338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C6290-1A13-40F9-87DB-D8C538E4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71950"/>
            <a:ext cx="10191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3683C-62DC-4BB6-852E-11DE714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33875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cust svc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8BCC4-48B5-4FE3-8F7F-A6252223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338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6F2C35-1AF7-4D63-A5C2-AD79180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71950"/>
            <a:ext cx="10191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8E42E-8C22-47D9-9910-E44F1D08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33875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risk svc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1FA8FF-2C15-4964-8C19-B24A6B89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338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2216EF-DACD-419D-B2EA-B9764DAA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171950"/>
            <a:ext cx="10191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F55F6D-1802-4E96-A60D-37681332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333875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Nacos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A90098-8241-4028-8EB2-69F8913B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先讲为什么拆，再讲怎么拆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前端仍调用 /api，不感知内部服务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独立库、MQ、缓存集群作为进阶扩展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93C16-5855-49A3-B8B2-BEC733DC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5B"/>
                </a:solidFill>
              </a:defRPr>
            </a:pPr>
            <a:r>
              <a:rPr sz="1725" b="1">
                <a:solidFill>
                  <a:srgbClr val="153A5B"/>
                </a:solidFill>
              </a:rPr>
              <a:t>架构选择服务于课程节奏：先跑通，再扩展复杂度。</a:t>
            </a:r>
          </a:p>
        </p:txBody>
      </p:sp>
    </p:spTree>
    <p:extLst>
      <p:ext uri="{BB962C8B-B14F-4D97-AF65-F5344CB8AC3E}">
        <p14:creationId xmlns:p14="http://schemas.microsoft.com/office/powerpoint/2010/main" val="151926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3F055-FC82-4602-96D4-0A8E7E0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A5C56-46F4-40DB-8427-4C4553B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工程可信度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A93CC-89E8-480A-9BD5-EC960C74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数据与 API 基线：四张表、一套契约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FF3E7-9AA1-46F9-9E95-B54A45B2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360A0-1FFD-4FE4-BC60-76B8ABC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AC019-50EA-4B71-85F1-B85AB653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19B69-4E48-4C93-B9D3-01BA4AC8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F7208-2A76-4AEE-B90E-7A2F9B9A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主题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E5644-A239-4E77-BF99-7816565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2402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讲清什么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FF5E2-FD0B-4DCC-8402-37D9A740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验收口径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5DEF4-1960-4903-942C-722162DB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2D85C-2144-42FD-A7E0-B8AECBB1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customer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5F1B6-A16B-4DB0-B3D0-9BD5463C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7647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客户基础信息与当前风险快照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9AFC9-A773-45FB-91D5-0E71CD91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7647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列表筛选、详情聚合、风险快照回写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8644B-20D7-4558-883C-06F2F9C3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18EBE-5D6D-4A0B-AD57-3E5471F7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702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94A90-564A-4D24-8D8F-A21B336F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6702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脱敏账号、余额、状态、异常标记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9B156-88C2-4566-8E3A-DF5F3FF1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670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详情页账户列表、风险规则输入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1D3F4-5EE6-4077-8D2B-06EB97A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EBA42-42B2-4B9A-9094-4E2F359D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risk_record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F7DAB-A4E9-4144-BE6E-7C868DEF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5757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风险等级、分数、原因、计算人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4C111-CDFD-4ABD-A3AD-0698B48F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5757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历史记录、重算后新增证据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78080-4291-4D1F-8FE9-C04D125E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E2EC0-7ABF-4B3A-8D76-E7551B67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operation_log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D76F6-D910-497D-B57A-02CD59E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4812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requestId、操作人、目标、结果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3E218-5396-42B3-AA7E-26FFF10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481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查询、重算、失败路径可追踪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90306-70AA-4257-A6B6-E78A9188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API 统一约定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7F4E6-2D45-427E-AB31-455D35A3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统一响应：success / code / message / data / requestId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错误码：400001、404001、409001、500000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字段保留 masked / sample 语义，提醒脱敏边界</a:t>
            </a:r>
          </a:p>
        </p:txBody>
      </p:sp>
    </p:spTree>
    <p:extLst>
      <p:ext uri="{BB962C8B-B14F-4D97-AF65-F5344CB8AC3E}">
        <p14:creationId xmlns:p14="http://schemas.microsoft.com/office/powerpoint/2010/main" val="20021157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8B9F6-396D-411F-A101-755F4A04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090D1-C683-48C9-9B6D-03C33793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9D7D6-B39D-46CE-BA03-204979F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第 3 课：用 AI 做需求分析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88524-D14E-446F-94FB-6DD48C8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306B3-B4A1-41B5-AAE1-AE60DD2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27118-02A6-4A0D-828E-5325C15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BFA37-3513-480A-A735-1624C8A8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演示输入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57CFD-579F-47EC-BB01-78CF4C23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93733-C60D-493A-8613-C204381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我要做一个客户风险评级与账户查询 POC，用于演示银行研发场景下 AI 辅助开发流程。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A2E53-B2A9-45C7-AA29-C95F8484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7"/>
                </a:solidFill>
              </a:defRPr>
            </a:pPr>
            <a:r>
              <a:rPr sz="1800" b="1">
                <a:solidFill>
                  <a:srgbClr val="2E7D57"/>
                </a:solidFill>
              </a:rPr>
              <a:t>AI 应输出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F28CD-F2C6-495E-9C79-513E5B67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用户角色、业务流程和功能范围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不做什么、非功能要求、待确认问题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按成功路径、失败路径、安全边界拆验收标准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58620-8F87-4D64-9E80-DC75C65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关键讲法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5B0EF-CAC4-4CBE-9345-D285A97B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AI 不应该粗需求后直接写代码。先让它问问题、定边界、写验收，人才有机会把方向收住。</a:t>
            </a:r>
          </a:p>
        </p:txBody>
      </p:sp>
    </p:spTree>
    <p:extLst>
      <p:ext uri="{BB962C8B-B14F-4D97-AF65-F5344CB8AC3E}">
        <p14:creationId xmlns:p14="http://schemas.microsoft.com/office/powerpoint/2010/main" val="86860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D13BE-1AAD-4B7B-9B71-93E1CD7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06B2D-4E49-43D9-8084-186CFECC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10005-8A28-4A54-811E-584BBDA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第 4 课：系统设计与评审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8D983-0A1D-45D8-9465-DABCFC36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4C760-E75B-47D0-89F4-03277B31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9944E-E759-4BB6-8989-B3EE28EA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38C62-6235-4065-B0E2-A8502FF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设计输入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1AE3A-428C-469B-A00E-52C39A8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4423F-9E0E-44BB-B6CA-F5BF7C37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第 3 课需求边界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POC 架构设计基线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数据库与 API 设计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前后端、测试输入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BCBB7-CF61-407D-AB3E-50036E73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评审重点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DBC4F-BDD7-40F2-82AE-D2D01EE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89C2E-8F94-42EB-8013-D461CB32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是否过度设计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模块边界是否清晰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数据库、API、前端字段是否一致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错误码、日志、requestId 是否覆盖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AE9D6-563A-4866-A5EB-A9004B31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主控裁决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2973E-CFCD-48C2-8E69-6E3AC2CC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CF38E-C141-4C3B-88B9-8D63E2AB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第一阶段单体优先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第二阶段再讲微服务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真实登录、权限、生产系统接入不进入 P1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问题按 P0/P1/P2 分级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32E91-1E3F-4A2B-A1C4-6E1BD16C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5B"/>
                </a:solidFill>
              </a:defRPr>
            </a:pPr>
            <a:r>
              <a:rPr sz="1725" b="1">
                <a:solidFill>
                  <a:srgbClr val="153A5B"/>
                </a:solidFill>
              </a:rPr>
              <a:t>设计评审不是让 AI 证明自己对，而是让 AI 帮我们更早暴露风险。</a:t>
            </a:r>
          </a:p>
        </p:txBody>
      </p:sp>
    </p:spTree>
    <p:extLst>
      <p:ext uri="{BB962C8B-B14F-4D97-AF65-F5344CB8AC3E}">
        <p14:creationId xmlns:p14="http://schemas.microsoft.com/office/powerpoint/2010/main" val="12575504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90DBE-49E1-4D36-8F45-9D883BE3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17D0E-0F2D-443D-A6CE-58DCCBF8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2622C-8369-4D43-A5D2-A88E17A5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第 5 课：后端最小服务开发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F6F51-8A33-4CEB-AD0A-BD12CE1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115D1-02CA-4BEF-9531-8D5D671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F8F87-30B6-4BFB-BA9D-71B0B703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8B574-1CD5-4220-9DEC-57C2F0DA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技术栈与边界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BACC7-83A4-4398-9CC5-6127784D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905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Spring Boot 3.x + JDK 21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Maven、MyBatis Plus、Flyway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test profile + H2 支撑录屏复现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MySQL 作为本地可选路径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4CECD-3363-407A-AB3B-F280F245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7"/>
                </a:solidFill>
              </a:defRPr>
            </a:pPr>
            <a:r>
              <a:rPr sz="1800" b="1">
                <a:solidFill>
                  <a:srgbClr val="2E7D57"/>
                </a:solidFill>
              </a:rPr>
              <a:t>必讲实现点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BDFEE-CDBA-4DA7-9A3A-71E02EFA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ApiResponse&lt;T&gt; 和 PageResponse&lt;T&gt;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错误码与全局异常处理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X-Request-Id 与 X-Operator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风险重算事务三项副作用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C4570-A053-4063-9B7B-42A7A8AB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176022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9ECC0-F4CE-4AE0-8DCD-65B907E0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00525"/>
            <a:ext cx="1569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客户查询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12655-3FCD-44C0-825B-CFD9976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395" y="42005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9EA04-796A-4B4F-A66E-445E9216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4038600"/>
            <a:ext cx="176022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872B3-381A-4584-9BFF-2AF0575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4200525"/>
            <a:ext cx="1569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账户列表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1996F-2900-45C0-810F-4417356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965" y="42005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CDD40-DB16-44B5-AE45-DF3AA550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4038600"/>
            <a:ext cx="176022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02A0C-5C79-45F5-BA9C-AA30987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4200525"/>
            <a:ext cx="1569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当前风险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5F6D7-61E8-4918-801E-8FD456D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42005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44959-4B28-42A0-9999-BA94526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60" y="4038600"/>
            <a:ext cx="176022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0720F-03E3-4FAA-BB05-E5467489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4200525"/>
            <a:ext cx="1569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风险重算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C2A1D-A2F0-4238-AA0F-AB3D4FC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105" y="42005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E303C-0984-44B5-88AF-B225CCC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030" y="4038600"/>
            <a:ext cx="176022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76A7F-685F-4D91-B5EA-B2AF76D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200525"/>
            <a:ext cx="156972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操作日志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C8DA5-75D0-463E-9874-C126A368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验收重点：不只看接口返回 success，还要验证风险历史新增、客户快照回写、操作日志写入。</a:t>
            </a:r>
          </a:p>
        </p:txBody>
      </p:sp>
    </p:spTree>
    <p:extLst>
      <p:ext uri="{BB962C8B-B14F-4D97-AF65-F5344CB8AC3E}">
        <p14:creationId xmlns:p14="http://schemas.microsoft.com/office/powerpoint/2010/main" val="16091945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F30D4-A755-4F10-9292-3CA274C3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89869-6E78-4925-82DF-7F57FA59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03377-D19A-465B-A133-6385480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第 6 课：前端页面与接口联调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833E8-7F9A-4909-953D-5A719C8D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EA6CD-4770-41FF-BAB8-D0F9008F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DF9E7-D748-42B3-8ACF-4CF98DCB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ABBE8-1EBE-455A-B3E4-E95C1A7C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C04E6-8EEB-4F95-AA02-32140BD3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主题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01CEA-E7D0-4D63-B80F-43CEE10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28775"/>
            <a:ext cx="407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讲清什么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DA5D0-CA9C-44C3-93DD-C9E7F1ED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验收口径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CDA11-4D89-42EB-BC2E-1316D43D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B0A86-2355-49A1-A8CC-6BBC212A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仪表盘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C43CD-98C5-4720-A445-EBE3E569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总客户、高风险、冻结/关闭、最近日志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3034B-35ED-4E45-B0B5-210C21C1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43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证明聚合展示可用，但说明非生产统计方案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CC3A8-9DEE-40F4-BB11-5FF566D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B43E8-89B2-4D89-9983-BE8D70B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客户列表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887EE-0EC5-4F42-9E51-EBE7568D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9557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筛选 HIGH、ACTIVE，分页和风险标签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3CBA5-9695-423D-A0AF-9439BF1E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95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请求参数、响应数据、页面状态一致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54EF1-4D54-4878-93A3-F8F643A9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59661-1B0D-4F90-A424-782483D3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客户详情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A8B8F-1282-49BF-8B15-B3BA1781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4802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基础信息、账户、当前风险、历史风险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C95D3-33AF-4188-AE0F-8F39956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480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多接口聚合展示正确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35F20-94A6-4F13-83BE-24DBB028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078A8-1890-46E9-8F5E-3274F216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风险重算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E7860-4D70-4E9E-A6F9-69E1C15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0047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触发重算并展示 transactionEffect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C574E-A695-4DCA-A79B-CCD0BE7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004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三项事务效果可观察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33E25-24D1-46E0-8B86-5DBCF0F7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5232F-A3BB-4857-BF43-F69E70AB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操作日志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66CB2A-340D-4F91-87CE-633041C0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5292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按 RECALCULATE_RISK 或 requestId 查询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86EA1-E3D8-4280-A1F0-C0EDB709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529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成功和失败日志可追踪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E5AC3-1F2B-4AFF-9772-E6F75CD6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5B"/>
                </a:solidFill>
              </a:defRPr>
            </a:pPr>
            <a:r>
              <a:rPr sz="1575" b="1">
                <a:solidFill>
                  <a:srgbClr val="153A5B"/>
                </a:solidFill>
              </a:rPr>
              <a:t>联调课不是页面展示课，而是把用户操作、请求参数、后端响应、页面状态和日志串成证据链。</a:t>
            </a:r>
          </a:p>
        </p:txBody>
      </p:sp>
    </p:spTree>
    <p:extLst>
      <p:ext uri="{BB962C8B-B14F-4D97-AF65-F5344CB8AC3E}">
        <p14:creationId xmlns:p14="http://schemas.microsoft.com/office/powerpoint/2010/main" val="6235119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71DBB9-C49C-4C7D-812E-1CFFE571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C85A8-B62F-49D5-B675-4392855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课程展开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308E8-5ABE-4DC0-8DF6-1C1A889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第 9 课：AI 验收、人工验收与安全复盘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914B5-D9BD-47F6-ACEB-F3A0011B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29C53-0B7F-4D6A-859C-1B8FF8BC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8F567-27DB-4885-891E-5534884C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11FE7-476B-4921-A913-AF0C828F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4BC9E-5A0F-4FEE-AE69-4FA32549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AI 审查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D20C9-45E9-4410-A19F-7A064710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62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C4C99-605C-4431-8ACF-701BE112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0020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5C54F-963E-47AA-8A3D-A2B43944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62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后端测试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08D83-63D1-4449-9080-BAE1E293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62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60BBF-FBA0-4F00-AEDD-122EBBAD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0020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BA172-3E7E-4A77-8C37-6E15621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62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HTTP 复验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912F3-C149-4393-8B22-74CDF8C8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62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61404-A8C4-4F98-986A-FC7CE7B1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0020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4A3F8-A058-46BC-BBE9-BA14820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62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前端构建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A8BB0-2F0E-41ED-BDCE-6A0688A5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62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B5C85-DB9D-4A21-9F1C-DE1BF40B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020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42EBC-33BB-4484-9208-F26F1A6F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62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浏览器验收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82580-B588-453C-BBFE-061CD30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62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CD5FC-101E-4302-B426-3C6FB82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0020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4DBB7-F9AB-42C5-B488-A7B8E914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62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日志追踪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8A142-0AF8-454A-A200-47EA067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62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29D32-53DB-4002-8AD5-F0188C4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00200"/>
            <a:ext cx="1447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A44B7-7BAA-44A9-A759-E93C96D4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762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安全脱敏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BD2693-D83D-4935-A96B-EFD2AEE9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自动化证据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DE7AA9-777B-42EA-8B47-240BF08C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7C10D-F138-46B8-83C4-DE90C035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mvn test：风险规则、Mapper、Service、Controller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npm run build：类型和打包链路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HTTP 文件：成功、400、404、409 可复现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4F8EB-7A7A-4887-ADBB-E4DEB97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9560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人工证据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AE62F-4251-4803-87D0-1FD0BF6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147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8E515-FC26-4FA1-9135-EF6D3B50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54330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浏览器主流程可操作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风险重算事务副作用可观察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requestId 可串联响应与日志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F2D2ED-B471-4E9D-880D-4F7952D8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89560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安全证据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BEF18-D72C-462E-A85B-2BDA27E1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3147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F17D8-D5B1-4512-822F-C6B224D4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54330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页面、日志、配置、样例数据脱敏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无真实账号、手机号、证件号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无密钥、生产地址和内部系统细节</a:t>
            </a:r>
          </a:p>
        </p:txBody>
      </p:sp>
    </p:spTree>
    <p:extLst>
      <p:ext uri="{BB962C8B-B14F-4D97-AF65-F5344CB8AC3E}">
        <p14:creationId xmlns:p14="http://schemas.microsoft.com/office/powerpoint/2010/main" val="5442439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99697-EF05-4B85-B327-743D8B55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D4BBD-BDE8-44BA-8737-324BC58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风险控制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00B82-5F98-4474-B9DA-944DC4A3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安全边界：课程能推广的前提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DD88D-FEB6-4D47-9761-25998FDE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F68A5-8818-4163-9985-17C95E6B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8924D-FD17-4A28-BB98-C9C76198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37EC3-2B24-41F9-96AF-A1F99589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ADEC9-C16C-49FA-B6B1-95D70ECE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AE072-DDC8-4A4A-BA21-041600B0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不上传真实客户信息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不使用真实账号、手机号、证件号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字段命名保留 masked / sample 提醒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1E109-4370-4A48-A8B5-91EA16C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37EFF-98A6-49B0-9886-42A77E0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922B0-1750-4577-AF71-6E105EE9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不连接生产系统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不写内部系统地址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不展示真实 base URL、token、密钥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本地使用 H2 或 demo 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AEFCC-53B1-4626-9B47-842219E2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6F8F6-27FC-4EF1-A9FF-CBCFF7B0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0CC5F-17A8-4DFB-8D06-3559292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不绕过安全、合规、评审、测试流程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AI 产物必须看 diff、跑测试、人工验收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风险规则只作教学样例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5DF47-EF20-4534-A364-8E79A611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安全边界要在第 0 课开场说明，在环境课、联调课、验收课反复落地。</a:t>
            </a:r>
          </a:p>
        </p:txBody>
      </p:sp>
    </p:spTree>
    <p:extLst>
      <p:ext uri="{BB962C8B-B14F-4D97-AF65-F5344CB8AC3E}">
        <p14:creationId xmlns:p14="http://schemas.microsoft.com/office/powerpoint/2010/main" val="14427150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1361E1-0237-4C10-BE67-C516A19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33A98-84B4-4FAF-865B-CBB07BC8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学员收益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B889F-8ED3-466B-B57C-2EE8696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对学员的价值：从“会问”到“会验”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1F2FB-4931-4A7C-B73C-E98706E9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07F62-D643-4BD2-9CC8-A718CDF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C1F58-FBC4-4440-A74E-42E5739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43E5C-323A-4A6B-8804-C30E1BA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647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C351F-63AD-46D1-BCA1-5E0916F8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1457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会搭环境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9A423-8F07-4334-A6B9-C2D350BE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71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0C7AF-E940-4832-9476-31C3A89D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09750"/>
            <a:ext cx="1647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B4DCB-03C0-4895-858C-B9C2C62F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971675"/>
            <a:ext cx="1457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会提需求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2C6BC-248F-48B7-8639-D59CC59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71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40DE5-F9D5-448C-A314-E235457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1647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7BD00-880A-4CB5-9ED0-CC6D456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71675"/>
            <a:ext cx="1457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会拆任务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86BAC-3E54-441C-8B9D-9F915CB0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71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21B77-E750-46A0-A8E5-0B2E8F51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09750"/>
            <a:ext cx="1647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465A5-E4A3-4978-8E89-3A0D90B9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71675"/>
            <a:ext cx="1457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会看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C9DC1-AB83-46B5-BBB9-8B5CF316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71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AD39F-2015-4BDA-9CFB-CB10D26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1647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1A4BB-1BAC-4A14-B678-1810632F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71675"/>
            <a:ext cx="1457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会跑测试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5062B-4851-459A-9F88-B47BC420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716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6176"/>
                </a:solidFill>
              </a:defRPr>
            </a:pPr>
            <a:r>
              <a:rPr sz="1350" b="1">
                <a:solidFill>
                  <a:srgbClr val="50617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C8F85-076E-48F9-9D7E-8D5BE74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09750"/>
            <a:ext cx="1647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060AD-B987-4BBE-983C-D3A98509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971675"/>
            <a:ext cx="1457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57"/>
                </a:solidFill>
              </a:defRPr>
            </a:pPr>
            <a:r>
              <a:rPr sz="1200" b="1">
                <a:solidFill>
                  <a:srgbClr val="2E7D57"/>
                </a:solidFill>
              </a:rPr>
              <a:t>会验收 AI 产物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A899E-1183-4FE9-8402-8BEA9DF3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课程结束后，学员至少能做到：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D76C2-BDB4-45B1-B648-7CE15D8B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81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把一个模糊需求拆成角色、流程、边界和验收标准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用主控/子会话方式完成小型工程任务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对 AI 输出提出约束并执行验证命令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识别哪些内容必须人工判断、哪些必须安全脱敏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A48CE-D438-4909-B22E-9B0D1BE4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3A5B"/>
                </a:solidFill>
              </a:defRPr>
            </a:pPr>
            <a:r>
              <a:rPr sz="1725" b="1">
                <a:solidFill>
                  <a:srgbClr val="153A5B"/>
                </a:solidFill>
              </a:rPr>
              <a:t>关键转变：不是学几个提示词，而是建立可复用的工程习惯。</a:t>
            </a:r>
          </a:p>
        </p:txBody>
      </p:sp>
    </p:spTree>
    <p:extLst>
      <p:ext uri="{BB962C8B-B14F-4D97-AF65-F5344CB8AC3E}">
        <p14:creationId xmlns:p14="http://schemas.microsoft.com/office/powerpoint/2010/main" val="18300165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12796-9F8A-4928-827D-D8CF973B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527B0-5F56-4D24-BCA2-E2D8B3C0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组织收益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6E771-7E5D-44E7-9AE6-FC55DC53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对团队和管理的价值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B5AE2-F6C1-41EC-88F5-29D30612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6CDB3-41E8-452C-86B3-A3208BC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75BD9-DCCC-44CF-BDA3-60121255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361DE-57A9-4C80-98BE-903B7546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B9674-A0B9-4903-87EF-471B719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主题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36167-BFCF-4F63-9EAE-4F8ED38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43075"/>
            <a:ext cx="407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讲清什么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28995-B9CE-4BA9-9A7C-2C303719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4307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验收口径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CAD9B-E06E-455D-83DC-6AEF4E68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8C2C3-CD52-4800-916A-A7E885BF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统一方法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C2DE4-DA58-4C36-986D-941F3ED5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33625"/>
            <a:ext cx="407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会话拆分、提示词结构、验收清单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4D809-47E2-47C5-A38D-1B428A9E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336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减少个人风格差异导致的质量波动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29F54-200C-456D-9B75-CA787EB3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747A8-7643-43FB-AFE6-B63A6C48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降低试错成本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6B727-2FE1-49F1-B95D-63823A75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407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安装 FAQ、失败兜底、既有验收记录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DCFCA-30AE-4D30-9A0B-374A940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环境问题可定位，不拖垮试讲主线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E682B-AF5A-4B3D-9F17-5E4E2228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E18E9-525E-497F-9BBC-68E660C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提升研发质量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87863-D99F-4D56-B165-3238409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90925"/>
            <a:ext cx="407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需求、设计、测试、联调、复盘全链路沉淀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FCD15-12AD-4E76-BE7E-204FBBA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909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不只生成代码，也补齐证据链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CD75E-28EA-4B5D-AADD-4F7946B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50B86-3CC8-46F5-BA65-F52CDE3A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沉淀组织资产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B3A05-F0A9-4915-90BA-E47C87D4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9575"/>
            <a:ext cx="407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提示词库、案例库、FAQ、团队规范草案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FA81A-69F9-4B7C-8A9E-36470AF6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95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后续项目组可复用、可迭代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E59B7-890E-4AB5-A6D2-C667AFEE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管理视角的收益不是“AI 替人”，而是让研发过程更结构化、更透明、更可复查。</a:t>
            </a:r>
          </a:p>
        </p:txBody>
      </p:sp>
    </p:spTree>
    <p:extLst>
      <p:ext uri="{BB962C8B-B14F-4D97-AF65-F5344CB8AC3E}">
        <p14:creationId xmlns:p14="http://schemas.microsoft.com/office/powerpoint/2010/main" val="19608283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482CDB-AEFD-4399-9F7C-9E111D18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486EA-32D1-4712-90DA-9902769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试讲计划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13BC9-4665-496D-864E-434D8242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内部试讲安排：3 到 5 人小范围验证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0346B-C7D0-4026-BF1E-26F19CBE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BBACE-D292-40BA-A418-3945626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AE200-43E5-4A6A-9E5B-A89FF736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E49DA-79E5-472D-A500-F2E08AA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参与组合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E0C92-74D2-4D4A-BF75-0A889CB9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66FF2-C7CE-4246-8ADD-027C7FCE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1-2 位技术骨干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1-2 位 AI 经验较少研发同学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0-1 位负责人或质量同学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052A0-D5B3-40FB-8E8E-4EEEC9DC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建议排期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FE2D8-0E89-4EB4-93B1-466C08FA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B616C-3E6B-4FD6-890B-144E764D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半天试讲：0、1、2、3、4、5、6、9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或拆成两次：认知环境 / 开发验收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每节结束收 1-3 个反馈点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51B08-8865-4A59-9DDA-50C9B8B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95450"/>
            <a:ext cx="344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A5B"/>
                </a:solidFill>
              </a:defRPr>
            </a:pPr>
            <a:r>
              <a:rPr sz="1800" b="1">
                <a:solidFill>
                  <a:srgbClr val="153A5B"/>
                </a:solidFill>
              </a:rPr>
              <a:t>进入 P2 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5684E-0F93-4167-A89C-CA0F8E99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14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5A6BB-2DAE-486E-9523-C31B1C76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343150"/>
            <a:ext cx="3441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80% 能说清课程主线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70% 能完成基础环境检查或定位卡点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POC 主流程稳定演示</a:t>
            </a:r>
          </a:p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• P0 安全问题清零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0AFAC-FB59-4BFD-8061-9F786FA6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A5B"/>
                </a:solidFill>
              </a:defRPr>
            </a:pPr>
            <a:r>
              <a:rPr sz="1650" b="1">
                <a:solidFill>
                  <a:srgbClr val="153A5B"/>
                </a:solidFill>
              </a:rPr>
              <a:t>试讲目标不是一次讲完所有内容，而是验证学员是否听得懂、能跟做、能复盘。</a:t>
            </a:r>
          </a:p>
        </p:txBody>
      </p:sp>
    </p:spTree>
    <p:extLst>
      <p:ext uri="{BB962C8B-B14F-4D97-AF65-F5344CB8AC3E}">
        <p14:creationId xmlns:p14="http://schemas.microsoft.com/office/powerpoint/2010/main" val="14032946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3065F-A09B-4CAE-B67B-5B03BA94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690A0-14F2-4B87-80EF-296AFE06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28355-3742-439E-898C-FFCAC1B6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成功标准与下一步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53A1F-F17A-4379-96C5-DED77C8B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AI 辅助研发入门课程 P1 内部试讲版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F986F-DCF4-480F-8C40-D48FE8A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42BA3-5059-4599-AD80-88F9E2FA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4FBC5-8424-476F-AE60-60402F88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387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C6D75-5E32-4030-ABB9-4482815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41910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1E92F-D711-4A0F-BA69-E76A746C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成功标准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A4FAE-BDEF-4DF4-B64D-15185F6A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能复现：环境、命令、HTTP、页面路径清楚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能讲清：价值、边界、工作流、POC 主线清楚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能验收：测试、日志、错误、安全证据完整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能推广：反馈闭环后再进入 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AB23D-37AD-4D12-B97A-FD188FCC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7"/>
                </a:solidFill>
              </a:defRPr>
            </a:pPr>
            <a:r>
              <a:rPr sz="2100" b="1">
                <a:solidFill>
                  <a:srgbClr val="2E7D57"/>
                </a:solidFill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77878-2D0E-418D-BCC4-B5520EDA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组织领导/骨干试看：第 0 课 + 第 6 课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组织 3 到 5 人 P1 内部试讲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收集反馈并按 P0/P1/P2 分类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• 再决定 P2 正式发布版打磨范围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C7B8A-B4CE-4130-9C65-1A1114C1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A5B"/>
                </a:solidFill>
              </a:defRPr>
            </a:pPr>
            <a:r>
              <a:rPr sz="1575" b="1">
                <a:solidFill>
                  <a:srgbClr val="153A5B"/>
                </a:solidFill>
              </a:rPr>
              <a:t>建议主控确认：试讲参与角色、是否现场实际跑构建测试、以及 P2 是否纳入微服务演进完整录制。</a:t>
            </a:r>
          </a:p>
        </p:txBody>
      </p:sp>
    </p:spTree>
    <p:extLst>
      <p:ext uri="{BB962C8B-B14F-4D97-AF65-F5344CB8AC3E}">
        <p14:creationId xmlns:p14="http://schemas.microsoft.com/office/powerpoint/2010/main" val="588771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2026-06-22T00:12:14.7480000Z</dcterms:created>
  <dcterms:modified xsi:type="dcterms:W3CDTF">2026-06-22T00:12:14.7480000Z</dcterms:modified>
</coreProperties>
</file>